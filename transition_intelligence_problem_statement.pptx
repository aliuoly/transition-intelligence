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2% reduction</c:v>
                </c:pt>
              </c:strCache>
            </c:strRef>
          </c:tx>
          <c:spPr>
            <a:solidFill>
              <a:srgbClr val="8A99A5"/>
            </a:solidFill>
            <a:ln w="38100" cap="flat">
              <a:solidFill>
                <a:srgbClr val="8A99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99A5"/>
              </a:solidFill>
              <a:ln w="9525" cap="flat">
                <a:solidFill>
                  <a:srgbClr val="8A99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12</c:v>
                  </c:pt>
                  <c:pt idx="1">
                    <c:v>24</c:v>
                  </c:pt>
                  <c:pt idx="2">
                    <c:v>48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5% reduction</c:v>
                </c:pt>
              </c:strCache>
            </c:strRef>
          </c:tx>
          <c:spPr>
            <a:solidFill>
              <a:srgbClr val="168B83"/>
            </a:solidFill>
            <a:ln w="38100" cap="flat">
              <a:solidFill>
                <a:srgbClr val="168B8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8B83"/>
              </a:solidFill>
              <a:ln w="9525" cap="flat">
                <a:solidFill>
                  <a:srgbClr val="168B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12</c:v>
                  </c:pt>
                  <c:pt idx="1">
                    <c:v>24</c:v>
                  </c:pt>
                  <c:pt idx="2">
                    <c:v>48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105</c:v>
                </c:pt>
                <c:pt idx="1">
                  <c:v>210</c:v>
                </c:pt>
                <c:pt idx="2">
                  <c:v>420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10% reduction</c:v>
                </c:pt>
              </c:strCache>
            </c:strRef>
          </c:tx>
          <c:spPr>
            <a:solidFill>
              <a:srgbClr val="5C4DB7"/>
            </a:solidFill>
            <a:ln w="38100" cap="flat">
              <a:solidFill>
                <a:srgbClr val="5C4DB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C4DB7"/>
              </a:solidFill>
              <a:ln w="9525" cap="flat">
                <a:solidFill>
                  <a:srgbClr val="5C4D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12</c:v>
                  </c:pt>
                  <c:pt idx="1">
                    <c:v>24</c:v>
                  </c:pt>
                  <c:pt idx="2">
                    <c:v>48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210</c:v>
                </c:pt>
                <c:pt idx="1">
                  <c:v>420</c:v>
                </c:pt>
                <c:pt idx="2">
                  <c:v>840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EE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  <c:min val="0"/>
        </c:scaling>
        <c:delete val="0"/>
        <c:axPos val="l"/>
        <c:majorGridlines>
          <c:spPr>
            <a:ln w="12700" cap="flat">
              <a:solidFill>
                <a:srgbClr val="DCE2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one"/>
        <c:spPr>
          <a:ln w="12700" cap="flat">
            <a:solidFill>
              <a:srgbClr val="D7DEE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3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opportunity before describing the product. The 112 Mt figure is derived from 430.9 Mt of global plastics production multiplied by the reported 26.0% combined PE-LD/LLD and PE-HD/MD share. The 50 t/h and seven-hour values are the demo basis. Emphasize that transition resin is influenced material, not automatically scrap. The workflow is reusable; the specific intervention remains unit-specific and engineer-approved.
[Sources]
- PlasticsEurope, Plastics the Fast Facts 2025 (2024 preliminary data): https://plasticseurope.org/wp-content/uploads/2025/09/PE_TheFacts_25_digital-1pager-scrollable.pdf
- Repository source: /home/alden/projects/seeq-demo/.plans/00-master-plan.md
- Repository source: /home/alden/projects/seeq-demo/data/transition_metadata.json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sensitivity model as a transparent conversation starter, not a customer business case. Annual value equals transitions/year × 350 transition-resin tonnes/event × percent reduction × $500/tonne recovered contribution. The center case is 24 × 350 × 5% = 420 tonnes, or $210k/year. Then name the optimization difficulty and move directly into the live demo. The system proposes evidence-backed recipe/SOP changes; it does not write plant control targets.
[Sources]
- Illustrative sensitivity model calculated for this deck; assumptions shown on-slide.
- Repository source: /home/alden/projects/seeq-demo/.plans/00-master-plan.md
- Repository source: /home/alden/projects/seeq-demo/.plans/03-agent-tools.md
- Repository source: /home/alden/projects/seeq-demo/.plans/04-demo-integration.md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63746"/>
          </a:solidFill>
          <a:ln w="12700">
            <a:solidFill>
              <a:srgbClr val="2637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"/>
            <a:ext cx="12191695" cy="22860"/>
          </a:xfrm>
          <a:prstGeom prst="rect">
            <a:avLst/>
          </a:prstGeom>
          <a:solidFill>
            <a:srgbClr val="5C4DB7"/>
          </a:solidFill>
          <a:ln w="12700">
            <a:solidFill>
              <a:srgbClr val="5C4D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INTELLIGENCE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1188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90" kern="0" dirty="0">
                <a:solidFill>
                  <a:srgbClr val="CCD5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POLYETHYLENE GRADE-CHANGE DECISION SUPPORT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56539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5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DEMO — ENGINEERING REVIEW REQUIRED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694944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637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 transitions sit inside a 112 Mt/year material system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SCALE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700784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C4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≈112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12648" y="2423160"/>
            <a:ext cx="228600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746"/>
                </a:solidFill>
              </a:rPr>
              <a:t>million tonnes of polyethylene produced in 2024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" y="3182112"/>
            <a:ext cx="2331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57782"/>
                </a:solidFill>
              </a:rPr>
              <a:t>PE represented 26% of global plastics output — a high-volume, multi-grade operating environment.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27248" y="1517904"/>
            <a:ext cx="0" cy="0"/>
          </a:xfrm>
          <a:prstGeom prst="line">
            <a:avLst/>
          </a:prstGeom>
          <a:noFill/>
          <a:ln w="12700">
            <a:solidFill>
              <a:srgbClr val="D7DE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1517904"/>
            <a:ext cx="0" cy="4370832"/>
          </a:xfrm>
          <a:prstGeom prst="line">
            <a:avLst/>
          </a:prstGeom>
          <a:noFill/>
          <a:ln w="12700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508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PROCESS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176479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63746"/>
                </a:solidFill>
              </a:rPr>
              <a:t>Gas-phase fluidized-bed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263746"/>
                </a:solidFill>
              </a:rPr>
              <a:t>polyethylene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474720" y="24871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782"/>
                </a:solidFill>
              </a:rPr>
              <a:t>A large resin inventory and delayed lab properties turn every grade change into a trajectory problem.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26280" y="3602736"/>
            <a:ext cx="2743200" cy="0"/>
          </a:xfrm>
          <a:prstGeom prst="line">
            <a:avLst/>
          </a:prstGeom>
          <a:noFill/>
          <a:ln w="25400">
            <a:solidFill>
              <a:srgbClr val="65778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93008" y="3154680"/>
            <a:ext cx="1234440" cy="896112"/>
          </a:xfrm>
          <a:prstGeom prst="roundRect">
            <a:avLst>
              <a:gd name="adj" fmla="val 8163"/>
            </a:avLst>
          </a:prstGeom>
          <a:solidFill>
            <a:srgbClr val="F0EDFB"/>
          </a:solidFill>
          <a:ln w="12700">
            <a:solidFill>
              <a:srgbClr val="F0ED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374136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4DB7"/>
                </a:solidFill>
              </a:rPr>
              <a:t>C₂ + H₂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C4DB7"/>
                </a:solidFill>
              </a:rPr>
              <a:t>comonomer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65776" y="3154680"/>
            <a:ext cx="1691640" cy="896112"/>
          </a:xfrm>
          <a:prstGeom prst="roundRect">
            <a:avLst>
              <a:gd name="adj" fmla="val 8163"/>
            </a:avLst>
          </a:prstGeom>
          <a:solidFill>
            <a:srgbClr val="263746"/>
          </a:solidFill>
          <a:ln w="12700">
            <a:solidFill>
              <a:srgbClr val="2637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3374136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FLUIDIZED-BED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REACTOR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04888" y="3154680"/>
            <a:ext cx="1234440" cy="896112"/>
          </a:xfrm>
          <a:prstGeom prst="roundRect">
            <a:avLst>
              <a:gd name="adj" fmla="val 8163"/>
            </a:avLst>
          </a:prstGeom>
          <a:solidFill>
            <a:srgbClr val="E5F3F1"/>
          </a:solidFill>
          <a:ln w="12700">
            <a:solidFill>
              <a:srgbClr val="E5F3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3374136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B83"/>
                </a:solidFill>
              </a:rPr>
              <a:t>PE grades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8B83"/>
                </a:solidFill>
              </a:rPr>
              <a:t>2210 · 1630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74920" y="416052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DB7"/>
                </a:solidFill>
              </a:rPr>
              <a:t>Transition target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93008" y="4443984"/>
            <a:ext cx="481888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746"/>
                </a:solidFill>
              </a:rPr>
              <a:t>Reach destination density + MFR quickly — while staying inside pressure, feed, heat-removal and quality constraints.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59952" y="1508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6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TRANSFERABILITY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759952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63746"/>
                </a:solidFill>
              </a:rPr>
              <a:t>The workflow scales; the recipe does not.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759952" y="2633472"/>
            <a:ext cx="26974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8B83"/>
                </a:solidFill>
              </a:rPr>
              <a:t>Within a site
</a:t>
            </a:r>
            <a:pPr indent="0" marL="0">
              <a:buNone/>
            </a:pPr>
            <a:r>
              <a:rPr lang="en-US" sz="1600" dirty="0">
                <a:solidFill>
                  <a:srgbClr val="657782"/>
                </a:solidFill>
              </a:rPr>
              <a:t>Across grade wheels, lines and transition directions
</a:t>
            </a:r>
            <a:pPr indent="0" marL="0">
              <a:buNone/>
            </a:pPr>
            <a:r>
              <a:rPr lang="en-US" sz="1600" b="1" dirty="0">
                <a:solidFill>
                  <a:srgbClr val="168B83"/>
                </a:solidFill>
              </a:rPr>
              <a:t>Across processes
</a:t>
            </a:r>
            <a:pPr indent="0" marL="0">
              <a:buNone/>
            </a:pPr>
            <a:r>
              <a:rPr lang="en-US" sz="1600" dirty="0">
                <a:solidFill>
                  <a:srgbClr val="657782"/>
                </a:solidFill>
              </a:rPr>
              <a:t>The pattern transfers to other recipe changeovers with process-specific signals and guardrails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4360" y="5230368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4223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63746"/>
                </a:solidFill>
              </a:rPr>
              <a:t>50 t/h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1938528" y="54589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57782"/>
                </a:solidFill>
              </a:rPr>
              <a:t>×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221992" y="54223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63746"/>
                </a:solidFill>
              </a:rPr>
              <a:t>7 h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2926080" y="545896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57782"/>
                </a:solidFill>
              </a:rPr>
              <a:t>≈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182112" y="549554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5C4DB7"/>
                </a:solidFill>
              </a:rPr>
              <a:t>350 t / transition</a:t>
            </a:r>
            <a:endParaRPr lang="en-US" sz="1850" dirty="0"/>
          </a:p>
        </p:txBody>
      </p:sp>
      <p:sp>
        <p:nvSpPr>
          <p:cNvPr id="36" name="Shape 34"/>
          <p:cNvSpPr/>
          <p:nvPr/>
        </p:nvSpPr>
        <p:spPr>
          <a:xfrm>
            <a:off x="5870448" y="5394960"/>
            <a:ext cx="0" cy="493776"/>
          </a:xfrm>
          <a:prstGeom prst="line">
            <a:avLst/>
          </a:prstGeom>
          <a:noFill/>
          <a:ln w="12700">
            <a:solidFill>
              <a:srgbClr val="D7DE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535838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782"/>
                </a:solidFill>
              </a:rPr>
              <a:t>24 transitions/year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81344" y="566928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6"/>
                </a:solidFill>
              </a:rPr>
              <a:t>8,400 t influenced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22792" y="540410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57782"/>
                </a:solidFill>
              </a:rPr>
              <a:t>This is the value-at-risk pool — not an assumption that all transition resin is scrap.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63746"/>
          </a:solidFill>
          <a:ln w="12700">
            <a:solidFill>
              <a:srgbClr val="2637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"/>
            <a:ext cx="12191695" cy="22860"/>
          </a:xfrm>
          <a:prstGeom prst="rect">
            <a:avLst/>
          </a:prstGeom>
          <a:solidFill>
            <a:srgbClr val="5C4DB7"/>
          </a:solidFill>
          <a:ln w="12700">
            <a:solidFill>
              <a:srgbClr val="5C4D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INTELLIGENCE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01000" y="1188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90" kern="0" dirty="0">
                <a:solidFill>
                  <a:srgbClr val="CCD5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POLYETHYLENE GRADE-CHANGE DECISION SUPPORT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56539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5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DEMO — ENGINEERING REVIEW REQUIRED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694944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637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improvements compound with every grade change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94360" y="1444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ANNUAL VALUE SENSITIVITY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6824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782"/>
                </a:solidFill>
              </a:rPr>
              <a:t>Assumptions: 350 t/transition · $500/t recovered contribution</a:t>
            </a:r>
            <a:endParaRPr lang="en-US" sz="12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02920" y="1965960"/>
          <a:ext cx="58978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93776" y="1984248"/>
            <a:ext cx="365760" cy="164592"/>
          </a:xfrm>
          <a:prstGeom prst="rect">
            <a:avLst/>
          </a:prstGeom>
          <a:solidFill>
            <a:srgbClr val="EDF1F4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57782"/>
                </a:solidFill>
              </a:rPr>
              <a:t>900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3776" y="2761488"/>
            <a:ext cx="365760" cy="164592"/>
          </a:xfrm>
          <a:prstGeom prst="rect">
            <a:avLst/>
          </a:prstGeom>
          <a:solidFill>
            <a:srgbClr val="EDF1F4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57782"/>
                </a:solidFill>
              </a:rPr>
              <a:t>600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93776" y="3538728"/>
            <a:ext cx="365760" cy="164592"/>
          </a:xfrm>
          <a:prstGeom prst="rect">
            <a:avLst/>
          </a:prstGeom>
          <a:solidFill>
            <a:srgbClr val="EDF1F4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57782"/>
                </a:solidFill>
              </a:rPr>
              <a:t>300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3776" y="4315968"/>
            <a:ext cx="365760" cy="164592"/>
          </a:xfrm>
          <a:prstGeom prst="rect">
            <a:avLst/>
          </a:prstGeom>
          <a:solidFill>
            <a:srgbClr val="EDF1F4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57782"/>
                </a:solidFill>
              </a:rPr>
              <a:t>0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4944" y="2103120"/>
            <a:ext cx="1965960" cy="530352"/>
          </a:xfrm>
          <a:prstGeom prst="roundRect">
            <a:avLst>
              <a:gd name="adj" fmla="val 8621"/>
            </a:avLst>
          </a:prstGeom>
          <a:solidFill>
            <a:srgbClr val="E5F3F1">
              <a:alpha val="98000"/>
            </a:srgbClr>
          </a:solidFill>
          <a:ln w="15875">
            <a:solidFill>
              <a:srgbClr val="168B8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816" y="220370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8B83"/>
                </a:solidFill>
              </a:rPr>
              <a:t>24 × 5% = 420 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3816" y="2386584"/>
            <a:ext cx="1719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63746"/>
                </a:solidFill>
              </a:rPr>
              <a:t>≈ $210k/year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58368" y="516636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57782"/>
                </a:solidFill>
              </a:rPr>
              <a:t>Use customer transition frequency, resin disposition and margin to replace these inputs.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65392" y="1481328"/>
            <a:ext cx="0" cy="4096512"/>
          </a:xfrm>
          <a:prstGeom prst="line">
            <a:avLst/>
          </a:prstGeom>
          <a:noFill/>
          <a:ln w="12700">
            <a:solidFill>
              <a:srgbClr val="D7DE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31152" y="14447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44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OPTIMIZATION IS DIFFICULT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949440" y="1810512"/>
            <a:ext cx="146304" cy="146304"/>
          </a:xfrm>
          <a:prstGeom prst="ellipse">
            <a:avLst/>
          </a:prstGeom>
          <a:solidFill>
            <a:srgbClr val="C44F4F"/>
          </a:solidFill>
          <a:ln w="12700">
            <a:solidFill>
              <a:srgbClr val="C44F4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42048" y="175564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63746"/>
                </a:solidFill>
              </a:rPr>
              <a:t>Interacting dynamics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759952" y="1755648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2"/>
                </a:solidFill>
              </a:rPr>
              <a:t>Pressure, composition, production and quality share constraints.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949440" y="2414016"/>
            <a:ext cx="146304" cy="146304"/>
          </a:xfrm>
          <a:prstGeom prst="ellipse">
            <a:avLst/>
          </a:prstGeom>
          <a:solidFill>
            <a:srgbClr val="C44F4F"/>
          </a:solidFill>
          <a:ln w="12700">
            <a:solidFill>
              <a:srgbClr val="C44F4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42048" y="235915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63746"/>
                </a:solidFill>
              </a:rPr>
              <a:t>Slow truth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759952" y="235915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2"/>
                </a:solidFill>
              </a:rPr>
              <a:t>Inferred properties move now; lab confirmation arrives later.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949440" y="3017520"/>
            <a:ext cx="146304" cy="146304"/>
          </a:xfrm>
          <a:prstGeom prst="ellipse">
            <a:avLst/>
          </a:prstGeom>
          <a:solidFill>
            <a:srgbClr val="C44F4F"/>
          </a:solidFill>
          <a:ln w="12700">
            <a:solidFill>
              <a:srgbClr val="C44F4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42048" y="2962656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63746"/>
                </a:solidFill>
              </a:rPr>
              <a:t>History is fragmented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759952" y="2962656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2"/>
                </a:solidFill>
              </a:rPr>
              <a:t>Comparable transitions hide across tags, shifts and dates.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949440" y="3602736"/>
            <a:ext cx="4498848" cy="0"/>
          </a:xfrm>
          <a:prstGeom prst="line">
            <a:avLst/>
          </a:prstGeom>
          <a:noFill/>
          <a:ln w="12700">
            <a:solidFill>
              <a:srgbClr val="D7DEE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31152" y="38039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6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TRANSITION INTELLIGENCE DOES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949440" y="4114800"/>
            <a:ext cx="246888" cy="246888"/>
          </a:xfrm>
          <a:prstGeom prst="ellipse">
            <a:avLst/>
          </a:prstGeom>
          <a:solidFill>
            <a:srgbClr val="168B83"/>
          </a:solidFill>
          <a:ln w="12700">
            <a:solidFill>
              <a:srgbClr val="168B8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0" y="4146804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333488" y="41056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</a:rPr>
              <a:t>Retrieve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686800" y="4105656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2"/>
                </a:solidFill>
              </a:rPr>
              <a:t>matching historical transitions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949440" y="4471416"/>
            <a:ext cx="246888" cy="246888"/>
          </a:xfrm>
          <a:prstGeom prst="ellipse">
            <a:avLst/>
          </a:prstGeom>
          <a:solidFill>
            <a:srgbClr val="168B83"/>
          </a:solidFill>
          <a:ln w="12700">
            <a:solidFill>
              <a:srgbClr val="168B8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49440" y="4503420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333488" y="44622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</a:rPr>
              <a:t>Align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8686800" y="4462272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2"/>
                </a:solidFill>
              </a:rPr>
              <a:t>process, property and constraint evidence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949440" y="4828032"/>
            <a:ext cx="246888" cy="246888"/>
          </a:xfrm>
          <a:prstGeom prst="ellipse">
            <a:avLst/>
          </a:prstGeom>
          <a:solidFill>
            <a:srgbClr val="168B83"/>
          </a:solidFill>
          <a:ln w="12700">
            <a:solidFill>
              <a:srgbClr val="168B8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49440" y="4860036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333488" y="4818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</a:rPr>
              <a:t>Diagnose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8686800" y="4818888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2"/>
                </a:solidFill>
              </a:rPr>
              <a:t>the repeated rate-limiting mechanism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6949440" y="5184648"/>
            <a:ext cx="246888" cy="246888"/>
          </a:xfrm>
          <a:prstGeom prst="ellipse">
            <a:avLst/>
          </a:prstGeom>
          <a:solidFill>
            <a:srgbClr val="5C4DB7"/>
          </a:solidFill>
          <a:ln w="12700">
            <a:solidFill>
              <a:srgbClr val="5C4DB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949440" y="5216652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7333488" y="51755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</a:rPr>
              <a:t>Recommend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8686800" y="5175504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782"/>
                </a:solidFill>
              </a:rPr>
              <a:t>one guarded recipe or SOP change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594360" y="5742432"/>
            <a:ext cx="10972800" cy="566928"/>
          </a:xfrm>
          <a:prstGeom prst="roundRect">
            <a:avLst>
              <a:gd name="adj" fmla="val 6452"/>
            </a:avLst>
          </a:prstGeom>
          <a:solidFill>
            <a:srgbClr val="263746"/>
          </a:solidFill>
          <a:ln w="12700">
            <a:solidFill>
              <a:srgbClr val="26374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68680" y="5925312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CCD5DC"/>
                </a:solidFill>
              </a:rPr>
              <a:t>DEMO NEXT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2212848" y="5879592"/>
            <a:ext cx="6675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Six histories · two directions · visible evidence → one engineering recommendation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933688" y="5888736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DE6E2"/>
                </a:solidFill>
              </a:rPr>
              <a:t>The engineer remains the decision maker.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Seeq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 Intelligence</dc:title>
  <dc:subject>Polyethylene transition intelligence problem statement</dc:subject>
  <dc:creator>OpenAI Codex</dc:creator>
  <cp:lastModifiedBy>OpenAI Codex</cp:lastModifiedBy>
  <cp:revision>1</cp:revision>
  <dcterms:created xsi:type="dcterms:W3CDTF">2026-08-09T18:56:39Z</dcterms:created>
  <dcterms:modified xsi:type="dcterms:W3CDTF">2026-08-09T18:56:39Z</dcterms:modified>
</cp:coreProperties>
</file>